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응답률</c:v>
                </c:pt>
              </c:strCache>
            </c:strRef>
          </c:tx>
          <c:spPr>
            <a:solidFill>
              <a:srgbClr val="57534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50" u="none">
                    <a:solidFill>
                      <a:srgbClr val="1A1815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753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7534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7534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7534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정기 보너스</c:v>
                  </c:pt>
                  <c:pt idx="1">
                    <c:v>식사 제공</c:v>
                  </c:pt>
                  <c:pt idx="2">
                    <c:v>연월차 지급</c:v>
                  </c:pt>
                  <c:pt idx="3">
                    <c:v>인센티브제</c:v>
                  </c:pt>
                  <c:pt idx="4">
                    <c:v>자기계발비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37.5</c:v>
                </c:pt>
                <c:pt idx="1">
                  <c:v>26.9</c:v>
                </c:pt>
                <c:pt idx="2">
                  <c:v>18.8</c:v>
                </c:pt>
                <c:pt idx="3">
                  <c:v>18.3</c:v>
                </c:pt>
                <c:pt idx="4">
                  <c:v>16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50" u="none">
                  <a:solidFill>
                    <a:srgbClr val="1A1815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A1815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응답률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50" u="none">
                    <a:solidFill>
                      <a:srgbClr val="1A1815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7534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7534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식대 제공/사내식당</c:v>
                  </c:pt>
                  <c:pt idx="1">
                    <c:v>자기계발비 지원</c:v>
                  </c:pt>
                  <c:pt idx="2">
                    <c:v>휴가·포상금 지원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34.4</c:v>
                </c:pt>
                <c:pt idx="1">
                  <c:v>25.1</c:v>
                </c:pt>
                <c:pt idx="2">
                  <c:v>18.4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50" u="none">
                  <a:solidFill>
                    <a:srgbClr val="1A1815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A1815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5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478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047857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Mini-project ① · AI 웹 서비스 설계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MealForward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DCF5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세무 리스크 없는 B2B 식대 이월 &amp; 복지 정산 플랫폼</a:t>
            </a:r>
            <a:endParaRPr lang="en-US" sz="2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“안 쓰고 소멸되는 식대, 세무 리스크 없이 차월 복지 자산으로.”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김정인  ·  2026.09  ·  github.com/Jeongin-Sharon-Kim/MealForward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CONTENTS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 순서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필요한가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56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복지제도 설문 통계 + 페인포인트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 &amp; 해결 방향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956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Pain Points → Solution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79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액터 &amp; 시스템 아키텍처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638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임직원 / 관리자, 서버·DB·AI 구조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779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UI 흐름도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1638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간 이동 경로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684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867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상세 (실제 데모)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70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회원가입부터 구매·환불까지 9개 화면 (실제 캡처)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9684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9867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Guardrail AX 설계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4370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Tool Calling 기반 세무 가드레일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755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93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모델 &amp; API 명세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577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ERD, Swagger UI · 21개 엔드포인트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51755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5193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단계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5577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MCC Fast-path, Multi-Agent 큐레이션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01. 왜 필요한가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복지 중에서도, '식사'가 유독 크다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직장인이 가장 바라는 기업의 복지제도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09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식사 제공이 정기 보너스 다음으로 2위 — 재직자 1,484명 복수응답 · 출처: 잡코리아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"이런 복지 있는 기업 가고 싶다!" (취업준비생)</a:t>
            </a:r>
            <a:endParaRPr lang="en-US" sz="14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17920" y="1828800"/>
          <a:ext cx="5394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217920" y="41605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1F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4652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식대 제공 — 취준생이 가장 원하는 복지 1위(34.4%)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5257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취업준비생 610명 복수응답 · 출처: 잡코리아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01. 왜 필요한가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연봉·성과급만으로는 더는 어려운 Retention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DCF5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삼성전자 · SK하이닉스 — 연봉·복지 수렴, 성과급 변동성은 명확한 한계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남은 차별점: 매일 피부로 느끼는 일상 속 세심한 복지 경험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1064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“재택근무하느라 이번 달 안 쓴 식대, 그대로 소멸”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17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이런 소소한 손실감을 챙기는 세심함이 곧 채용 브랜딩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MealForward — 세무 리스크 없는 미사용 식대의 차월 복지 자산 전환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상품권 현금화 등 오남용은 API·DB 단에서 엄격 차단하는 가드레일 내장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02. 문제 정의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C방식의 함정: 못 쓴 포인트는 그냥 소멸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현금 지급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정산은 편하나 과세 대상, 목적 외 사용 통제 불가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법인카드/영수증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극심한 정산 피로도, 증빙 관리 부담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1F3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 식권 포인트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정산 자동화, 단 미사용분 매월 말 100% 소멸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예: 식권대장·벤디스·식신e식권 등 도입 확대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DCF5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50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조건 없이 현금·일반 포인트로 전환 시: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국세청 비과세(월 20만원) 기준 위반 + 상품권 재테크식 부정 유용 → 세무 가산세 리스크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MealForward의 답: C방식 정산 자동화 유지 + 소멸 포인트만 세무 리스크 없이 이월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02. 문제 정의 → 해결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Pain Points → Solution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417320" cy="950976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임직원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6002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재택·외근으로 남는 식대가 매월 말 그냥 사라짐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508760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6002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1-Click 이월 신청 → 차월 복지 포인트로 자동 전환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0642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24328"/>
            <a:ext cx="1417320" cy="950976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24328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임직원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7157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이월 포인트로 상품권을 사면 세무상 문제가 되는지 알 수 없음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624328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7157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Guardrail AX가 결제 시점에 실시간으로 자동 차단·안내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110642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39896"/>
            <a:ext cx="1417320" cy="950976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39896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HR/총무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383133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미사용 식대를 조건 없이 풀어주면 현금 유용 리스크 발생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739896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83133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이월 포인트 결제만 선별 검증(일반 포인트는 자유 결제)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55464"/>
            <a:ext cx="110642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855464"/>
            <a:ext cx="1417320" cy="950976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855464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HR/총무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148840" y="494690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복지 상품·차단 정책 관리가 파편화되어 있음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855464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494690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화면에서 상품 CRUD + 정책 + 정산 통합 관리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03. 시스템 액터 &amp; 아키텍처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쓰고, 어떤 구조로 동작하는가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  <a:effectLst>
            <a:outerShdw sx="100000" sy="100000" kx="0" ky="0" algn="bl" rotWithShape="0" blurRad="101600" dist="25400" dir="5400000">
              <a:srgbClr val="1a181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914400" cy="914400"/>
          </a:xfrm>
          <a:prstGeom prst="ellipse">
            <a:avLst/>
          </a:prstGeom>
          <a:solidFill>
            <a:srgbClr val="DCF5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🧑‍💻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임직원 (User)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0756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식대 잔액 조회 · 이월 신청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포인트 상점 · 구매 내역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029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  <a:effectLst>
            <a:outerShdw sx="100000" sy="100000" kx="0" ky="0" algn="bl" rotWithShape="0" blurRad="101600" dist="25400" dir="5400000">
              <a:srgbClr val="1a181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364992"/>
            <a:ext cx="914400" cy="914400"/>
          </a:xfrm>
          <a:prstGeom prst="ellipse">
            <a:avLst/>
          </a:prstGeom>
          <a:solidFill>
            <a:srgbClr val="DCF5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364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🛡️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HR/총무 관리자 (Admin)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전사 이월 정산 · 가드레일 정책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복지 상품 관리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92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회원가입 정책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관리자는 사전 발급 인증 키 필요(불일치 시 403 거부)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가입 시 같은 계정으로 임직원 화면도 이용 가능(역방향 불가)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508760"/>
            <a:ext cx="56692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  <a:effectLst>
            <a:outerShdw sx="100000" sy="100000" kx="0" ky="0" algn="bl" rotWithShape="0" blurRad="101600" dist="25400" dir="5400000">
              <a:srgbClr val="1a1815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2194560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0354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Client — Vanilla JS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4871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브라우저에서 fetch로 REST 호출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778240" y="2761488"/>
            <a:ext cx="0" cy="201168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2962656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240">
            <a:solidFill>
              <a:srgbClr val="E4E1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3008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Express Routes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2552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인증·검증 미들웨어 + REST 엔드포인트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778240" y="3529584"/>
            <a:ext cx="0" cy="201168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92240" y="3730752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0478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0" y="3776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OpenAI gpt-4o-mini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2336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Guardrail AX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Tool Calling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549640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915400" y="3730752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E11D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06840" y="3776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룰 기반 폴백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2336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 매칭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(AI 응답 실패 시)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778240" y="4507992"/>
            <a:ext cx="0" cy="201168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92240" y="4709160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240">
            <a:solidFill>
              <a:srgbClr val="E4E1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4754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db.js — PostgreSQL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50017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진실 공급원(source of truth) + seed.json 미러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778240" y="5276088"/>
            <a:ext cx="0" cy="201168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92240" y="5477256"/>
            <a:ext cx="45720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E4E1D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0" y="5522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Swagger UI (/api-docs)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57058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OpenAPI 3.0 명세 실시간 문서화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04. 전체 UI 흐름도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화면은 어떻게 이어지는가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임직원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E1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8379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로그인/가입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677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/login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E1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4912" y="18379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226771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포인트 · 이월신청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0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E1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10912" y="18379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포인트 상점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10912" y="226771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/store.html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23760" y="17830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047857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96912" y="183794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 팝업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96912" y="22677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Guardrail AX 검증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92640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E1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65792" y="18379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구매 내역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765792" y="226771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사용·환불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0" y="2167128"/>
            <a:ext cx="365760" cy="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2167128"/>
            <a:ext cx="365760" cy="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2167128"/>
            <a:ext cx="365760" cy="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26880" y="2167128"/>
            <a:ext cx="365760" cy="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22376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승인(APPROVED) → 상점 복귀 / 차단(BLOCKED) → 사유·risk score 안내, 화면 유지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E1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6667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로그인/가입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40965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/login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51760" y="361188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E1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24912" y="366674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대시보드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724912" y="40965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KPI · 정산 목록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0" y="3611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E1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76672" y="366674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복지 상품 관리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76672" y="40965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등록·수정·삭제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0" y="3611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E1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45552" y="366674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가드레일 정책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845552" y="40965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risk threshold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241280" y="361188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047857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14432" y="366674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정산 승인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314432" y="409651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9월 말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0" y="3995928"/>
            <a:ext cx="365760" cy="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937760" y="3995928"/>
            <a:ext cx="365760" cy="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406640" y="3995928"/>
            <a:ext cx="365760" cy="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875520" y="3995928"/>
            <a:ext cx="365760" cy="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DCF5E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2960" y="4956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역할별 네비게이션 완전 분리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321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임직원·관리자 화면 간 이동 없음(로그인 후 자동 분기)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단, 관리자 가입 시 같은 계정으로 임직원 화면도 이용 가능 — 두 플로우 모두 진입 가능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01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회원가입 (/signup.html)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21208" y="2139621"/>
            <a:ext cx="6912864" cy="340171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signu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67053"/>
            <a:ext cx="6858000" cy="33468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417320"/>
            <a:ext cx="3977640" cy="1737360"/>
          </a:xfrm>
          <a:prstGeom prst="roundRect">
            <a:avLst>
              <a:gd name="adj" fmla="val 3684"/>
            </a:avLst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54112" y="1490472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인증 키 검증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54112" y="1801368"/>
            <a:ext cx="3739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탭 가입 시 사전 발급된 인증 키 필수 입력. 키 불일치 시 403으로 가입 자체가 거부됨.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>
            <a:off x="3975293" y="2286000"/>
            <a:ext cx="3659947" cy="26505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635240" y="3429000"/>
            <a:ext cx="3977640" cy="1554480"/>
          </a:xfrm>
          <a:prstGeom prst="roundRect">
            <a:avLst>
              <a:gd name="adj" fmla="val 4118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54112" y="3502152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/auth/signup/{role}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54112" y="3813048"/>
            <a:ext cx="3739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임직원: /auth/signup/user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관리자: /auth/signup/admin — role별로 라우트 자체가 분리됨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flipH="1" flipV="1">
            <a:off x="4773281" y="2589517"/>
            <a:ext cx="2861959" cy="1616723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02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 (/login.html)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77993" y="1389888"/>
            <a:ext cx="4879055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425" y="1417320"/>
            <a:ext cx="4824191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1417320"/>
            <a:ext cx="5760720" cy="1417320"/>
          </a:xfrm>
          <a:prstGeom prst="roundRect">
            <a:avLst>
              <a:gd name="adj" fmla="val 4516"/>
            </a:avLst>
          </a:prstGeom>
          <a:solidFill>
            <a:srgbClr val="DCF5EA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71032" y="1490472"/>
            <a:ext cx="5522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 성공 → 역할별 자동 이동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71032" y="1801368"/>
            <a:ext cx="5522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role=user → /dashboard.html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role=admin → /admin.html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 flipV="1">
            <a:off x="3017520" y="1583290"/>
            <a:ext cx="2834640" cy="542690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852160" y="4069080"/>
            <a:ext cx="5760720" cy="1417320"/>
          </a:xfrm>
          <a:prstGeom prst="roundRect">
            <a:avLst>
              <a:gd name="adj" fmla="val 4516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71032" y="4142232"/>
            <a:ext cx="5522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/auth/login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71032" y="4453128"/>
            <a:ext cx="55229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{email, password, role} 전송 → 성공 시 세션 저장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flipH="1">
            <a:off x="2685580" y="4777740"/>
            <a:ext cx="3166580" cy="268788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03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 — 총 포인트 &amp; 이월 신청 (/dashboard.html)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21208" y="1539621"/>
            <a:ext cx="6638544" cy="460171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7053"/>
            <a:ext cx="6583680" cy="45468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417320"/>
            <a:ext cx="4251960" cy="1143000"/>
          </a:xfrm>
          <a:prstGeom prst="roundRect">
            <a:avLst>
              <a:gd name="adj" fmla="val 5600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79792" y="1490472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/user/points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79792" y="1801368"/>
            <a:ext cx="4014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일반+이월 포인트 합계, 연간 소멸 예정일 반환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>
            <a:off x="3909060" y="1988820"/>
            <a:ext cx="3451860" cy="606933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360920" y="2743200"/>
            <a:ext cx="4251960" cy="1143000"/>
          </a:xfrm>
          <a:prstGeom prst="roundRect">
            <a:avLst>
              <a:gd name="adj" fmla="val 5600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79792" y="2816352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/user/meal-balance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79792" y="3127248"/>
            <a:ext cx="4014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당월 잔액 · 이월여부 · 당월 소멸 예정일 반환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flipH="1">
            <a:off x="3909060" y="3314700"/>
            <a:ext cx="3451860" cy="584073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360920" y="4069080"/>
            <a:ext cx="4251960" cy="1600200"/>
          </a:xfrm>
          <a:prstGeom prst="roundRect">
            <a:avLst>
              <a:gd name="adj" fmla="val 4000"/>
            </a:avLst>
          </a:prstGeom>
          <a:solidFill>
            <a:srgbClr val="DCF5EA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79792" y="4142232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1-Click 이월 신청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79792" y="4453128"/>
            <a:ext cx="4014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/user/rollover/apply → 위 두 값이 같은 화면에서 즉시 갱신(화면 전환 없음). 이미 이월했으면 버튼 비활성화.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 flipH="1" flipV="1">
            <a:off x="5349240" y="4858893"/>
            <a:ext cx="2011680" cy="10287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18023" y="5961888"/>
            <a:ext cx="1547234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19" name="Image 1" descr="/Users/kimjeong-in/Desktop/hr-ax/docs/deck/assets/nav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55" y="5989320"/>
            <a:ext cx="1492370" cy="6858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971800" y="6126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 클릭 → 드롭다운으로 두 화면 진입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04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포인트 상점 (/store.html)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39001" y="1389888"/>
            <a:ext cx="6751597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stor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433" y="1417320"/>
            <a:ext cx="6696733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417320"/>
            <a:ext cx="3794760" cy="1828800"/>
          </a:xfrm>
          <a:prstGeom prst="roundRect">
            <a:avLst>
              <a:gd name="adj" fmla="val 3500"/>
            </a:avLst>
          </a:prstGeom>
          <a:solidFill>
            <a:srgbClr val="DCF5EA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36992" y="149047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/store/products?category=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1801368"/>
            <a:ext cx="3557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isCashLike=true 상품에만 "이월 포인트 결제 불가" 배지 표시. 카테고리 탭 클릭 시 그리드만 새로고침(화면 전환 없음).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>
            <a:off x="2244053" y="2331720"/>
            <a:ext cx="5574067" cy="1695157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 flipH="1">
            <a:off x="4345254" y="2331720"/>
            <a:ext cx="3472866" cy="1695157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05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 &amp; Guardrail AX 실시간 차단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83623" y="1389888"/>
            <a:ext cx="3033553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store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055" y="1417320"/>
            <a:ext cx="2978689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66589" y="1389888"/>
            <a:ext cx="2789062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7" name="Image 1" descr="/Users/kimjeong-in/Desktop/hr-ax/docs/deck/assets/block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021" y="1417320"/>
            <a:ext cx="2734198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42519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" y="4325112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/payments/checkout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4636008"/>
            <a:ext cx="5157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{userId, itemName, generalAmount, flexiAmount} 전송. flexiAmount&gt;0일 때만 Guardrail AX 검증. 현금성 자산(isCashLike)은 "나눠서 결제" 탭 자체가 숨겨짐.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 flipV="1">
            <a:off x="3246120" y="3487872"/>
            <a:ext cx="244884" cy="306888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263640" y="42519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82512" y="4325112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차단 메시지 (risk score 노출)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82512" y="4636008"/>
            <a:ext cx="5157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"현금화 가능한 자산으로 분류되어 결제가 차단됩니다" + risk score를 화면에 직접 노출 — 사유가 즉시 확인됨.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 flipH="1" flipV="1">
            <a:off x="8967990" y="3615670"/>
            <a:ext cx="38850" cy="17909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06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대시보드 — KPI &amp; 정산 목록 (/admin.html)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94239" y="1389888"/>
            <a:ext cx="6841123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admin_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71" y="1417320"/>
            <a:ext cx="6786259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417320"/>
            <a:ext cx="3794760" cy="1554480"/>
          </a:xfrm>
          <a:prstGeom prst="roundRect">
            <a:avLst>
              <a:gd name="adj" fmla="val 4118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36992" y="149047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/admin/settlements/summary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1801368"/>
            <a:ext cx="3557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(userId, itemName) 조합당 최초 차단 1건만 집계 — AI 차단 건수 중복 카운팅 방지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>
            <a:off x="1956177" y="2194560"/>
            <a:ext cx="5861943" cy="18920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818120" y="3154680"/>
            <a:ext cx="3794760" cy="128016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36992" y="322783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/admin/settlements/list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538728"/>
            <a:ext cx="3557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부서별/직원별 이월 포인트 현황 테이블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flipH="1" flipV="1">
            <a:off x="4107746" y="3533617"/>
            <a:ext cx="3710374" cy="261143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07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복지 상품 관리 (/admin.html)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21208" y="1599699"/>
            <a:ext cx="7187184" cy="448156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admin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131"/>
            <a:ext cx="7132320" cy="44266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41732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36992" y="149047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/admin/products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1801368"/>
            <a:ext cx="3557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복지 상품 전체 목록 조회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>
            <a:off x="2803325" y="1943100"/>
            <a:ext cx="5014795" cy="458139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818120" y="2651760"/>
            <a:ext cx="3794760" cy="1783080"/>
          </a:xfrm>
          <a:prstGeom prst="roundRect">
            <a:avLst>
              <a:gd name="adj" fmla="val 3590"/>
            </a:avLst>
          </a:prstGeom>
          <a:solidFill>
            <a:srgbClr val="DCF5EA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36992" y="272491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 / 삭제 버튼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035808"/>
            <a:ext cx="3557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 → 프리필된 모달 오픈 → PUT /admin/products/{id}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삭제 → 확인 후 즉시 DELETE /admin/products/{id}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flipH="1" flipV="1">
            <a:off x="6343180" y="2731927"/>
            <a:ext cx="1474940" cy="811373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07-1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복지 상품 등록 폼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510028" y="1389888"/>
            <a:ext cx="7141464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admin_add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460" y="1417320"/>
            <a:ext cx="70866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0" y="4572000"/>
            <a:ext cx="7589520" cy="1691640"/>
          </a:xfrm>
          <a:prstGeom prst="roundRect">
            <a:avLst>
              <a:gd name="adj" fmla="val 3784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404872" y="4645152"/>
            <a:ext cx="7351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/admin/products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404872" y="4956048"/>
            <a:ext cx="7351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{name, category, price, isCashLike} 전송. 카테고리 "직접 입력..." 선택 시 같은 폼에서 텍스트 입력창 노출(화면 전환 없음).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 flipV="1">
            <a:off x="3504145" y="3815862"/>
            <a:ext cx="2439455" cy="824718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05. 화면 상세 · 08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구매 내역 &amp; 환불 (/purchases.html)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21208" y="2000312"/>
            <a:ext cx="7187184" cy="3680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5" name="Image 0" descr="/Users/kimjeong-in/Desktop/hr-ax/docs/deck/assets/purchases_ref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7744"/>
            <a:ext cx="7132320" cy="3625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417320"/>
            <a:ext cx="3794760" cy="1280160"/>
          </a:xfrm>
          <a:prstGeom prst="roundRect">
            <a:avLst>
              <a:gd name="adj" fmla="val 5000"/>
            </a:avLst>
          </a:prstGeom>
          <a:solidFill>
            <a:srgbClr val="DCF5EA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36992" y="149047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/user/purchases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1801368"/>
            <a:ext cx="3557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approval_status=APPROVED 건만 반환 (BLOCKED 시도는 목록에서 제외)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>
            <a:off x="2031451" y="2057400"/>
            <a:ext cx="5786669" cy="1156592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818120" y="2880360"/>
            <a:ext cx="3794760" cy="1874520"/>
          </a:xfrm>
          <a:prstGeom prst="roundRect">
            <a:avLst>
              <a:gd name="adj" fmla="val 3415"/>
            </a:avLst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36992" y="295351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환불 확인 모달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264408"/>
            <a:ext cx="3557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"환불을 원하십니까?" + 결제에 사용한 포인트로만 환불되며 교차 환불 불가 안내 고정 노출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flipH="1">
            <a:off x="5167596" y="3817620"/>
            <a:ext cx="2650524" cy="114608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06. Guardrail AX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Tool Calling으로 현금성 자산만 걸러낸다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 블랙리스트로는 신종 변종 상품권(핀번호 교환권, SSG머니 등) 차단 불가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LLM에 4가지 세무 원칙을 부여, classify_purchase 함수 직접 호출 강제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517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상품권·기프트카드·충전권 등 범용 구매력을 가진 것은 무조건 차단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27355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주유권 등 실물 재화 아닌 화폐성 가치도 즉시 환금 가능하면 차단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41064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89534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도서·강의·식음료·운동 등 실질 소비재/서비스는 허용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62856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51713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"이용권" 이름만으로 차단하지 않음 — 매장 전용 이용권 허용, 범용 현금가치 전환분만 차단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141732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  <a:effectLst>
            <a:outerShdw sx="100000" sy="100000" kx="0" ky="0" algn="bl" rotWithShape="0" blurRad="101600" dist="25400" dir="5400000">
              <a:srgbClr val="1a1815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흐름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858000" y="219456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2249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 요청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2532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generalAmount + flexiAmount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98280" y="2834640"/>
            <a:ext cx="0" cy="146304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58000" y="2980944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95160" y="3035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flexiAmount &gt; 0 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319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포인트 결제분은 검증 대상 아님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98280" y="3621024"/>
            <a:ext cx="0" cy="146304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58000" y="3767328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95160" y="38221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OpenAI gpt-4o-mini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41056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Tool Calling으로 classify_purchase 강제 호출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98280" y="4407408"/>
            <a:ext cx="0" cy="146304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553712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95160" y="46085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시 룰 기반 폴백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4892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 매칭 기반 자체 판정 로직으로 대체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98280" y="5193792"/>
            <a:ext cx="0" cy="146304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58000" y="5340096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E11D4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95160" y="5394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isBlocked / riskScore / blockReason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5678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4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구조화된 JSON 스키마로 응답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07. 데이터 모델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9개 엔티티로 정리한 도메인 ERD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4937760"/>
          </a:xfrm>
          <a:prstGeom prst="roundRect">
            <a:avLst>
              <a:gd name="adj" fmla="val 4068"/>
            </a:avLst>
          </a:prstGeom>
          <a:solidFill>
            <a:srgbClr val="DCF5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[핵심 설계 포인트]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User/Admin 역할별 테이블 분리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98648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89864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GENERAL/FLEXI_MEAL 이원 포인트 관리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39896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739896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PaymentTransaction–GuardrailLog 1:1 감사 추적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81144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5811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회사별 GuardrailPolicy로 유연한 정책 적용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22392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42239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354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ENUM(point_type/status)으로 상태값 무결성 확보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9262" y="1389888"/>
            <a:ext cx="6663156" cy="499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17" name="Image 0" descr="/Users/kimjeong-in/Desktop/hr-ax/docs/deck/assets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6694" y="1417320"/>
            <a:ext cx="6608292" cy="4937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732520" y="1691640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42248" y="1746504"/>
            <a:ext cx="2660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GuardrailLog — flexi 결제 건만 AI 판정 로그 생성 (risk score 기록)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732520" y="2125980"/>
            <a:ext cx="360291" cy="99879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732520" y="2743200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DCF5EA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842248" y="2798064"/>
            <a:ext cx="2660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 / Admin — 역할별 테이블 분리, company_id로 소속 회사 연결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 flipH="1">
            <a:off x="5700985" y="3177540"/>
            <a:ext cx="3031535" cy="3952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732520" y="3794760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842248" y="3849624"/>
            <a:ext cx="2660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PointLedger — GENERAL/FLEXI_MEAL 구분, 이월분만 상태 관리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 flipH="1" flipV="1">
            <a:off x="7385361" y="4001568"/>
            <a:ext cx="1347159" cy="22753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732520" y="4846320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42248" y="4901184"/>
            <a:ext cx="2660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PaymentTransaction — 일반/이월 분할 결제 + voucher_code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 flipH="1">
            <a:off x="7385361" y="5280660"/>
            <a:ext cx="1347159" cy="13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07. API 명세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OpenAPI 3.0 · 실제 Swagger UI (/api-docs)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spec/openapi.yaml 기반 — 태그별 그룹화, 메서드 컬러 배지로 21개 엔드포인트 한눈에 확인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786734"/>
            <a:ext cx="5495544" cy="29187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6" name="Image 0" descr="/Users/kimjeong-in/Desktop/hr-ax/docs/deck/assets/swagge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4166"/>
            <a:ext cx="5440680" cy="28639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44768" y="1872521"/>
            <a:ext cx="5495544" cy="2747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8" name="Image 1" descr="/Users/kimjeong-in/Desktop/hr-ax/docs/deck/assets/swagge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99953"/>
            <a:ext cx="5440680" cy="269233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709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 · User · Store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172200" y="4709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Payments · Admin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24174" y="5093208"/>
            <a:ext cx="1534932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</p:spPr>
      </p:sp>
      <p:pic>
        <p:nvPicPr>
          <p:cNvPr id="12" name="Image 2" descr="/Users/kimjeong-in/Desktop/hr-ax/docs/deck/assets/dup4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06" y="5120640"/>
            <a:ext cx="1480068" cy="1234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063240" y="5120640"/>
            <a:ext cx="8549640" cy="1234440"/>
          </a:xfrm>
          <a:prstGeom prst="roundRect">
            <a:avLst>
              <a:gd name="adj" fmla="val 5185"/>
            </a:avLst>
          </a:prstGeom>
          <a:solidFill>
            <a:srgbClr val="FFF1F3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182112" y="5193792"/>
            <a:ext cx="8311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409 Conflict 응답 예시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182112" y="5504688"/>
            <a:ext cx="8311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회원가입 시 이메일 중복 → EMAIL_ALREADY_EXISTS 에러 코드와 메시지를 스키마로 고정 — 모든 실패 케이스를 Swagger 스키마에서 확인 가능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 flipH="1" flipV="1">
            <a:off x="2431674" y="5737860"/>
            <a:ext cx="631566" cy="621792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08. 다음 단계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수업 범위를 넘어선 확장 아이디어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  <a:effectLst>
            <a:outerShdw sx="100000" sy="100000" kx="0" ky="0" algn="bl" rotWithShape="0" blurRad="101600" dist="25400" dir="5400000">
              <a:srgbClr val="1a181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DCF5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</a:t>
            </a:r>
            <a:endParaRPr lang="en-US" sz="204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MCC Fast-path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오프라인 카드 결제의 가맹점 업종 코드가 명백히 안전하면 LLM 호출 없이 즉시 승인, 애매할 때만 LLM Heavy-path로 분기해 비용·응답속도 최적화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  <a:effectLst>
            <a:outerShdw sx="100000" sy="100000" kx="0" ky="0" algn="bl" rotWithShape="0" blurRad="101600" dist="25400" dir="5400000">
              <a:srgbClr val="1a181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10512"/>
            <a:ext cx="548640" cy="548640"/>
          </a:xfrm>
          <a:prstGeom prst="ellipse">
            <a:avLst/>
          </a:prstGeom>
          <a:solidFill>
            <a:srgbClr val="DCF5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🤖</a:t>
            </a:r>
            <a:endParaRPr lang="en-US" sz="204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Multi-Agent 복지 큐레이션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이월 포인트 소멸 D-Day를 감지해 가드레일을 통과한 맞춤 복지 상품을 미리 추천하는 ReAct 기반 에이전트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  <a:effectLst>
            <a:outerShdw sx="100000" sy="100000" kx="0" ky="0" algn="bl" rotWithShape="0" blurRad="101600" dist="25400" dir="5400000">
              <a:srgbClr val="1a181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96512"/>
            <a:ext cx="548640" cy="548640"/>
          </a:xfrm>
          <a:prstGeom prst="ellipse">
            <a:avLst/>
          </a:prstGeom>
          <a:solidFill>
            <a:srgbClr val="DCF5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</a:t>
            </a:r>
            <a:endParaRPr lang="en-US" sz="204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Webhook 실시간 연동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00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식권대장·벤디스 등 외부 모바일 식권 솔루션과 API Real-time Webhook으로 잔액 자동 동기화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1D9"/>
            </a:solidFill>
            <a:prstDash val="solid"/>
          </a:ln>
          <a:effectLst>
            <a:outerShdw sx="100000" sy="100000" kx="0" ky="0" algn="bl" rotWithShape="0" blurRad="101600" dist="25400" dir="5400000">
              <a:srgbClr val="1a181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96512"/>
            <a:ext cx="548640" cy="548640"/>
          </a:xfrm>
          <a:prstGeom prst="ellipse">
            <a:avLst/>
          </a:prstGeom>
          <a:solidFill>
            <a:srgbClr val="DCF5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</a:t>
            </a:r>
            <a:endParaRPr lang="en-US" sz="204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비과세 한도 리포팅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00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연말정산 시 비과세 한도 소진율을 자동 측정하고 리포트로 확장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92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35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478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F5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MealForward — 세무 리스크 없는 B2B 식대 이월 &amp; 복지 정산 플랫폼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EA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github.com/Jeongin-Sharon-Kim/MealForward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2026-09-16T08:32:11Z</dcterms:created>
  <dcterms:modified xsi:type="dcterms:W3CDTF">2026-09-16T08:32:11Z</dcterms:modified>
</cp:coreProperties>
</file>